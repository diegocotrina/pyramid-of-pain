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embeddedFontLst>
    <p:embeddedFont>
      <p:font typeface="Roboto"/>
      <p:regular r:id="rId8"/>
      <p:bold r:id="rId9"/>
      <p:italic r:id="rId10"/>
      <p:boldItalic r:id="rId11"/>
    </p:embeddedFont>
    <p:embeddedFont>
      <p:font typeface="Google Sans"/>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Roboto-boldItalic.fntdata"/><Relationship Id="rId10" Type="http://schemas.openxmlformats.org/officeDocument/2006/relationships/font" Target="fonts/Roboto-italic.fntdata"/><Relationship Id="rId13" Type="http://schemas.openxmlformats.org/officeDocument/2006/relationships/font" Target="fonts/GoogleSans-bold.fntdata"/><Relationship Id="rId12" Type="http://schemas.openxmlformats.org/officeDocument/2006/relationships/font" Target="fonts/GoogleSans-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Roboto-bold.fntdata"/><Relationship Id="rId15" Type="http://schemas.openxmlformats.org/officeDocument/2006/relationships/font" Target="fonts/GoogleSans-boldItalic.fntdata"/><Relationship Id="rId14" Type="http://schemas.openxmlformats.org/officeDocument/2006/relationships/font" Target="fonts/GoogleSans-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font" Target="fonts/Roboto-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9419f719b3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9419f719b3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e118e9c68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e118e9c68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body"/>
          </p:nvPr>
        </p:nvSpPr>
        <p:spPr>
          <a:xfrm>
            <a:off x="311700" y="419550"/>
            <a:ext cx="7986000" cy="928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605"/>
              <a:buNone/>
            </a:pPr>
            <a:r>
              <a:rPr b="1" lang="en" sz="1790">
                <a:solidFill>
                  <a:schemeClr val="dk1"/>
                </a:solidFill>
                <a:latin typeface="Google Sans"/>
                <a:ea typeface="Google Sans"/>
                <a:cs typeface="Google Sans"/>
                <a:sym typeface="Google Sans"/>
              </a:rPr>
              <a:t>Has this file hash been reported as malicious? Explain why or why not.</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0"/>
              </a:spcAft>
              <a:buSzPts val="605"/>
              <a:buNone/>
            </a:pPr>
            <a:r>
              <a:t/>
            </a:r>
            <a:endParaRPr b="1" sz="1790">
              <a:solidFill>
                <a:schemeClr val="dk1"/>
              </a:solidFill>
              <a:latin typeface="Google Sans"/>
              <a:ea typeface="Google Sans"/>
              <a:cs typeface="Google Sans"/>
              <a:sym typeface="Google Sans"/>
            </a:endParaRPr>
          </a:p>
          <a:p>
            <a:pPr indent="0" lvl="0" marL="0" rtl="0" algn="l">
              <a:lnSpc>
                <a:spcPct val="95000"/>
              </a:lnSpc>
              <a:spcBef>
                <a:spcPts val="1200"/>
              </a:spcBef>
              <a:spcAft>
                <a:spcPts val="1200"/>
              </a:spcAft>
              <a:buSzPts val="605"/>
              <a:buNone/>
            </a:pPr>
            <a:r>
              <a:t/>
            </a:r>
            <a:endParaRPr b="1" sz="1790">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Google Sans"/>
                <a:ea typeface="Google Sans"/>
                <a:cs typeface="Google Sans"/>
                <a:sym typeface="Google Sans"/>
              </a:rPr>
              <a:t>The file hash has been reported as malicious by over 50 vendors. Upon further investigation, this file hash is known as the malware Flagpro, which has been commonly used by the advanced threat actor BlackTech.</a:t>
            </a:r>
            <a:endParaRPr>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fmla="val 50000" name="adj"/>
              </a:avLst>
            </a:prstGeom>
            <a:solidFill>
              <a:schemeClr val="accent1"/>
            </a:solidFill>
            <a:ln cap="flat" cmpd="sng" w="2857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2" name="Google Shape;62;p14"/>
            <p:cNvCxnSpPr/>
            <p:nvPr/>
          </p:nvCxnSpPr>
          <p:spPr>
            <a:xfrm>
              <a:off x="2174888" y="1426450"/>
              <a:ext cx="1162500" cy="0"/>
            </a:xfrm>
            <a:prstGeom prst="straightConnector1">
              <a:avLst/>
            </a:prstGeom>
            <a:noFill/>
            <a:ln cap="flat" cmpd="sng" w="28575">
              <a:solidFill>
                <a:srgbClr val="FFFFFF"/>
              </a:solidFill>
              <a:prstDash val="solid"/>
              <a:round/>
              <a:headEnd len="med" w="med" type="none"/>
              <a:tailEnd len="med" w="med" type="none"/>
            </a:ln>
          </p:spPr>
        </p:cxnSp>
        <p:cxnSp>
          <p:nvCxnSpPr>
            <p:cNvPr id="63" name="Google Shape;63;p14"/>
            <p:cNvCxnSpPr/>
            <p:nvPr/>
          </p:nvCxnSpPr>
          <p:spPr>
            <a:xfrm>
              <a:off x="1714500" y="2214625"/>
              <a:ext cx="2094000" cy="0"/>
            </a:xfrm>
            <a:prstGeom prst="straightConnector1">
              <a:avLst/>
            </a:prstGeom>
            <a:noFill/>
            <a:ln cap="flat" cmpd="sng" w="28575">
              <a:solidFill>
                <a:srgbClr val="FFFFFF"/>
              </a:solidFill>
              <a:prstDash val="solid"/>
              <a:round/>
              <a:headEnd len="med" w="med" type="none"/>
              <a:tailEnd len="med" w="med" type="none"/>
            </a:ln>
          </p:spPr>
        </p:cxnSp>
        <p:cxnSp>
          <p:nvCxnSpPr>
            <p:cNvPr id="64" name="Google Shape;64;p14"/>
            <p:cNvCxnSpPr/>
            <p:nvPr/>
          </p:nvCxnSpPr>
          <p:spPr>
            <a:xfrm>
              <a:off x="1269525" y="2976625"/>
              <a:ext cx="2970900" cy="0"/>
            </a:xfrm>
            <a:prstGeom prst="straightConnector1">
              <a:avLst/>
            </a:prstGeom>
            <a:noFill/>
            <a:ln cap="flat" cmpd="sng" w="28575">
              <a:solidFill>
                <a:srgbClr val="FFFFFF"/>
              </a:solidFill>
              <a:prstDash val="solid"/>
              <a:round/>
              <a:headEnd len="med" w="med" type="none"/>
              <a:tailEnd len="med" w="med" type="none"/>
            </a:ln>
          </p:spPr>
        </p:cxnSp>
        <p:cxnSp>
          <p:nvCxnSpPr>
            <p:cNvPr id="65" name="Google Shape;65;p14"/>
            <p:cNvCxnSpPr/>
            <p:nvPr/>
          </p:nvCxnSpPr>
          <p:spPr>
            <a:xfrm>
              <a:off x="903063" y="3665615"/>
              <a:ext cx="3729900" cy="0"/>
            </a:xfrm>
            <a:prstGeom prst="straightConnector1">
              <a:avLst/>
            </a:prstGeom>
            <a:noFill/>
            <a:ln cap="flat" cmpd="sng" w="28575">
              <a:solidFill>
                <a:srgbClr val="FFFFFF"/>
              </a:solidFill>
              <a:prstDash val="solid"/>
              <a:round/>
              <a:headEnd len="med" w="med" type="none"/>
              <a:tailEnd len="med" w="med" type="none"/>
            </a:ln>
          </p:spPr>
        </p:cxnSp>
        <p:cxnSp>
          <p:nvCxnSpPr>
            <p:cNvPr id="66" name="Google Shape;66;p14"/>
            <p:cNvCxnSpPr/>
            <p:nvPr/>
          </p:nvCxnSpPr>
          <p:spPr>
            <a:xfrm>
              <a:off x="484250" y="4351425"/>
              <a:ext cx="4541700" cy="0"/>
            </a:xfrm>
            <a:prstGeom prst="straightConnector1">
              <a:avLst/>
            </a:prstGeom>
            <a:noFill/>
            <a:ln cap="flat" cmpd="sng" w="28575">
              <a:solidFill>
                <a:srgbClr val="FFFFFF"/>
              </a:solidFill>
              <a:prstDash val="solid"/>
              <a:round/>
              <a:headEnd len="med" w="med" type="none"/>
              <a:tailEnd len="med" w="med" type="none"/>
            </a:ln>
          </p:spPr>
        </p:cxnSp>
      </p:grpSp>
      <p:sp>
        <p:nvSpPr>
          <p:cNvPr id="67" name="Google Shape;67;p14"/>
          <p:cNvSpPr txBox="1"/>
          <p:nvPr/>
        </p:nvSpPr>
        <p:spPr>
          <a:xfrm>
            <a:off x="2424313" y="863775"/>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TTPs</a:t>
            </a:r>
            <a:endParaRPr b="1" sz="1700">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Tools</a:t>
            </a:r>
            <a:endParaRPr b="1" sz="1700">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700">
                <a:solidFill>
                  <a:schemeClr val="lt1"/>
                </a:solidFill>
                <a:latin typeface="Google Sans"/>
                <a:ea typeface="Google Sans"/>
                <a:cs typeface="Google Sans"/>
                <a:sym typeface="Google Sans"/>
              </a:rPr>
              <a:t>Network/host artifacts</a:t>
            </a:r>
            <a:endParaRPr b="1" sz="1700">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Domain names</a:t>
            </a:r>
            <a:endParaRPr b="1" sz="1700">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IP addresses</a:t>
            </a:r>
            <a:endParaRPr b="1" sz="1700">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700">
                <a:solidFill>
                  <a:schemeClr val="lt1"/>
                </a:solidFill>
                <a:latin typeface="Google Sans"/>
                <a:ea typeface="Google Sans"/>
                <a:cs typeface="Google Sans"/>
                <a:sym typeface="Google Sans"/>
              </a:rPr>
              <a:t>Hash values</a:t>
            </a:r>
            <a:endParaRPr b="1" sz="1700">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4" name="Google Shape;74;p14"/>
          <p:cNvSpPr/>
          <p:nvPr/>
        </p:nvSpPr>
        <p:spPr>
          <a:xfrm>
            <a:off x="4848450" y="82432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Command and Control</a:t>
            </a:r>
            <a:endParaRPr sz="1100">
              <a:solidFill>
                <a:schemeClr val="dk1"/>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6" name="Google Shape;76;p14"/>
          <p:cNvSpPr/>
          <p:nvPr/>
        </p:nvSpPr>
        <p:spPr>
          <a:xfrm>
            <a:off x="5273525" y="15394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Input capture</a:t>
            </a:r>
            <a:endParaRPr sz="1100">
              <a:solidFill>
                <a:schemeClr val="dk1"/>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78" name="Google Shape;78;p14"/>
          <p:cNvSpPr/>
          <p:nvPr/>
        </p:nvSpPr>
        <p:spPr>
          <a:xfrm>
            <a:off x="5681325" y="2309099"/>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HTTP Requests</a:t>
            </a:r>
            <a:endParaRPr sz="1100">
              <a:solidFill>
                <a:schemeClr val="dk1"/>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0" name="Google Shape;80;p14"/>
          <p:cNvSpPr/>
          <p:nvPr/>
        </p:nvSpPr>
        <p:spPr>
          <a:xfrm>
            <a:off x="6120875" y="3012486"/>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org.misecure.com</a:t>
            </a:r>
            <a:endParaRPr sz="1100">
              <a:solidFill>
                <a:schemeClr val="dk1"/>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2" name="Google Shape;82;p14"/>
          <p:cNvSpPr/>
          <p:nvPr/>
        </p:nvSpPr>
        <p:spPr>
          <a:xfrm>
            <a:off x="6530225" y="37158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457200" rtl="0" algn="l">
              <a:spcBef>
                <a:spcPts val="0"/>
              </a:spcBef>
              <a:spcAft>
                <a:spcPts val="0"/>
              </a:spcAft>
              <a:buNone/>
            </a:pPr>
            <a:r>
              <a:rPr lang="en" sz="1100">
                <a:solidFill>
                  <a:schemeClr val="dk1"/>
                </a:solidFill>
                <a:latin typeface="Google Sans"/>
                <a:ea typeface="Google Sans"/>
                <a:cs typeface="Google Sans"/>
                <a:sym typeface="Google Sans"/>
              </a:rPr>
              <a:t>207.148.109.242</a:t>
            </a:r>
            <a:endParaRPr sz="1100">
              <a:solidFill>
                <a:schemeClr val="dk1"/>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84" name="Google Shape;84;p14"/>
          <p:cNvSpPr/>
          <p:nvPr/>
        </p:nvSpPr>
        <p:spPr>
          <a:xfrm>
            <a:off x="6816475" y="4417974"/>
            <a:ext cx="2020500" cy="525300"/>
          </a:xfrm>
          <a:prstGeom prst="roundRect">
            <a:avLst>
              <a:gd fmla="val 16667"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chemeClr val="dk1"/>
                </a:solidFill>
                <a:latin typeface="Google Sans"/>
                <a:ea typeface="Google Sans"/>
                <a:cs typeface="Google Sans"/>
                <a:sym typeface="Google Sans"/>
              </a:rPr>
              <a:t>287d612e29b71c90aa54947313810a25</a:t>
            </a:r>
            <a:endParaRPr sz="1100">
              <a:solidFill>
                <a:schemeClr val="dk1"/>
              </a:solidFill>
              <a:latin typeface="Google Sans"/>
              <a:ea typeface="Google Sans"/>
              <a:cs typeface="Google Sans"/>
              <a:sym typeface="Google Sa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